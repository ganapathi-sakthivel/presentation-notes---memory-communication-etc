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2DC81-2FD2-45CA-A849-F17E2256B58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D406-F736-4F3D-A162-A455808327D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759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2DC81-2FD2-45CA-A849-F17E2256B58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D406-F736-4F3D-A162-A45580832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186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2DC81-2FD2-45CA-A849-F17E2256B58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D406-F736-4F3D-A162-A455808327D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912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2DC81-2FD2-45CA-A849-F17E2256B58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D406-F736-4F3D-A162-A45580832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13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2DC81-2FD2-45CA-A849-F17E2256B58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D406-F736-4F3D-A162-A45580832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555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2DC81-2FD2-45CA-A849-F17E2256B58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D406-F736-4F3D-A162-A45580832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374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2DC81-2FD2-45CA-A849-F17E2256B58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D406-F736-4F3D-A162-A45580832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894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EB2DC81-2FD2-45CA-A849-F17E2256B58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2F9D406-F736-4F3D-A162-A45580832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211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2DC81-2FD2-45CA-A849-F17E2256B58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D406-F736-4F3D-A162-A45580832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997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2DC81-2FD2-45CA-A849-F17E2256B58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D406-F736-4F3D-A162-A45580832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49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2DC81-2FD2-45CA-A849-F17E2256B58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D406-F736-4F3D-A162-A45580832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70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EB2DC81-2FD2-45CA-A849-F17E2256B58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2F9D406-F736-4F3D-A162-A455808327DF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1627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3564834"/>
            <a:ext cx="10058400" cy="760277"/>
          </a:xfrm>
        </p:spPr>
        <p:txBody>
          <a:bodyPr>
            <a:normAutofit/>
          </a:bodyPr>
          <a:lstStyle/>
          <a:p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 – volatile memory (ROM)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25663" y="4996070"/>
            <a:ext cx="2083242" cy="390516"/>
          </a:xfrm>
        </p:spPr>
        <p:txBody>
          <a:bodyPr>
            <a:normAutofit fontScale="55000" lnSpcReduction="20000"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</a:t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Ganapathi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549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31305"/>
            <a:ext cx="10058400" cy="1378225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Transistor?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3785" y="2110777"/>
            <a:ext cx="6772096" cy="34153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transistor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tiny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switch or amplifier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made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 material (silicon)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ON/OFF a current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(like a digital 1 or 0).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can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amplify signals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(make a weak signal stronger).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block of all modern electronics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(ROM, RAM, CPU, mobile chips, etc.).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of it like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water pipes: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valve is open → water flows = current flows (logic 1).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valve is closed → water stops = no current (logic 0).</a:t>
            </a:r>
          </a:p>
          <a:p>
            <a:endParaRPr lang="en-IN" dirty="0"/>
          </a:p>
        </p:txBody>
      </p:sp>
      <p:pic>
        <p:nvPicPr>
          <p:cNvPr id="1026" name="Picture 2" descr="Transistor diagram of a transistor and its parts as described abvo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4425" y="2226364"/>
            <a:ext cx="2839990" cy="2575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16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802" y="1219200"/>
            <a:ext cx="10058400" cy="463824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Transistors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229802" y="2243989"/>
            <a:ext cx="7543219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Two main families: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(A) BJT (Bipolar Junction Transistor)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Older type, uses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control current.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Has 3 terminals: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Emitter, Base, Collector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use: Amplifiers.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(B) MOSFET (Metal-Oxide-Semiconductor Field Effect Transistor)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type, used in digital circuits (CPU, ROM, RAM).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voltage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 the gate to control current 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Has 3 terminals: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Source, Gate, Drain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Much smaller, faster, and efficient → used in billions on chips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909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802" y="1219200"/>
            <a:ext cx="10058400" cy="463824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Transistor Terminals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229802" y="1825196"/>
            <a:ext cx="974837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MOSFET (used in memory and logic circuits):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Gate (G):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Control pin (like a switch handle).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 (S):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Where current enters.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Drain (D):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Where current exits.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voltage applied to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path opens between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 and Drain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current flows (ON).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no voltage → path is closed → no current (OFF).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506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802" y="1219200"/>
            <a:ext cx="10058400" cy="463824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Transistors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117159" y="1825207"/>
            <a:ext cx="6374869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4. Transistors in Digital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transistor → simple switch.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Few transistors → logic gates (AND, OR, NOT).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Millions of transistors → microprocessor (CPU).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Billions of transistors → modern chips (Intel i9, ARM,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ROM, each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memory cell is made of transistors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CPU, transistors build adders, multipliers, registers.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RAM, a single bit may use 1 transistor + 1 capacitor.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261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802" y="1219200"/>
            <a:ext cx="10058400" cy="463824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Why Transistors are Important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229802" y="2250092"/>
            <a:ext cx="637486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Replace bulky vacuum tubes.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Small (nanometer scale).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Cheap and mass-producible.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 at GHz speeds.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 power consumption.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616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802" y="1219200"/>
            <a:ext cx="10058400" cy="463824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MOSFET Symbol (used in ROM/CPU):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What is MOSFET: Symbol, Working, Types &amp; Different Packag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8288" y="2170044"/>
            <a:ext cx="47625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7520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802" y="1219200"/>
            <a:ext cx="10058400" cy="463824"/>
          </a:xfrm>
        </p:spPr>
        <p:txBody>
          <a:bodyPr>
            <a:normAutofit/>
          </a:bodyPr>
          <a:lstStyle/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of ROM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29802" y="1672346"/>
            <a:ext cx="10075387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ROM is made of Basic Digital Circuits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Inside ROM, you’ll find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combinational logic circuits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memory cells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built from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transistors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main circuits are: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Address Decoder Circuit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using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logic gates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(NAND, NOR).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Converts the binary address input into a single active word line.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If you input 010, decoder activates only row 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Memory Cell Array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matrix (rows × columns) of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memory cells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memory cell is a small circuit that stores a bit (0 or 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of circuits used: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Mask ROM: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Hardwired transistor/diode at each cross-point.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EPROM/EEPROM/Flash: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floating-gate MOSFETs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memory cells.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404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802" y="1219200"/>
            <a:ext cx="10058400" cy="463824"/>
          </a:xfrm>
        </p:spPr>
        <p:txBody>
          <a:bodyPr>
            <a:normAutofit/>
          </a:bodyPr>
          <a:lstStyle/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of ROM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29802" y="1881163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+mj-lt"/>
              <a:buAutoNum type="arabicPeriod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Sense Amplifier Circuit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Reads the tiny voltage/current from the memory cell and converts it into a clear digital 0 or 1.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Needed because the memory cell signal is very weak.</a:t>
            </a:r>
          </a:p>
          <a:p>
            <a:pPr>
              <a:buFont typeface="+mj-lt"/>
              <a:buAutoNum type="arabicPeriod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 Buffer Circuit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Strengthens the data signal so it can travel outside the chip to the CPU.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Works like a driver/amplifier.</a:t>
            </a:r>
          </a:p>
          <a:p>
            <a:pPr>
              <a:buFont typeface="+mj-lt"/>
              <a:buAutoNum type="arabicPeriod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 Logic Circuit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Manages signals like: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 (Chip Enable)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activates the ROM chip.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OE (Output Enable)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enables data output to bus.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(Write Enable)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only in EEPROM/Flash (for programming).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391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802" y="1219200"/>
            <a:ext cx="10058400" cy="463824"/>
          </a:xfrm>
        </p:spPr>
        <p:txBody>
          <a:bodyPr>
            <a:normAutofit/>
          </a:bodyPr>
          <a:lstStyle/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of ROM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73426" y="1654593"/>
            <a:ext cx="967688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Basic Memory Cell Circuit (Inside ROM)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memory cell is very simple, but depends on ROM type: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(A) Mask ROM Cell (Hardwired)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the cross of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word line (row)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 line (column)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a transistor/diode is connected → logic “1”.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no connection → logic “0”.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Circuit: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Word Line ────●──── Bit Line → "1" Word Line ───────X──── Bit Line → "0" 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980661" y="4661988"/>
            <a:ext cx="679865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(B) EPROM/EEPROM/Flash Cell (Floating Gate MOSFET)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MOSFET transistor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an extra gate (floating gate).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electrons are trapped → transistor OFF = “0”.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no electrons → transistor ON = “1”.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67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802" y="1219200"/>
            <a:ext cx="10058400" cy="463824"/>
          </a:xfrm>
        </p:spPr>
        <p:txBody>
          <a:bodyPr>
            <a:normAutofit/>
          </a:bodyPr>
          <a:lstStyle/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Circuit Sample: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28730" y="2486872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Control Gate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│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┌─────┴──────┐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│ Floating                   │        ← stores charge (electrons)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│ Gate                         │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└────────────┘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│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MOSFET Channel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596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802" y="1219200"/>
            <a:ext cx="10058400" cy="463824"/>
          </a:xfrm>
        </p:spPr>
        <p:txBody>
          <a:bodyPr>
            <a:normAutofit/>
          </a:bodyPr>
          <a:lstStyle/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of circuit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insite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(ROM)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672" y="1922336"/>
            <a:ext cx="4825788" cy="432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390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802" y="1219200"/>
            <a:ext cx="10058400" cy="463824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Memory Cell?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29802" y="2035099"/>
            <a:ext cx="1125724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memory cell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electronic circuit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inside a memory chip that stores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bit of data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(either 0 or 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memory cell = 1 binary value (0 or 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Millions/billions of cells are arranged in a grid (array) to make a memory chip.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 when you say a chip is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KB (1024 bytes)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it actually has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8192 memory cells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(since 1 byte = 8 bits).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325217" y="3386804"/>
            <a:ext cx="718017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Does a Memory Cell Contain?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Depends on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 of memory (ROM, RAM, Flash, etc.)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(A) In Mask ROM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memory cell =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fixed connection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(wired transistor or diode).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Connection present = “1”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connection = “0”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049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802" y="1219200"/>
            <a:ext cx="10058400" cy="463824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Memory Cell?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29802" y="2035099"/>
            <a:ext cx="1125724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memory cell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electronic circuit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inside a memory chip that stores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bit of data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(either 0 or 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memory cell = 1 binary value (0 or 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Millions/billions of cells are arranged in a grid (array) to make a memory chip.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 when you say a chip is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KB (1024 bytes)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it actually has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8192 memory cells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(since 1 byte = 8 bits).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325217" y="3386804"/>
            <a:ext cx="718017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Does a Memory Cell Contain?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Depends on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 of memory (ROM, RAM, Flash, etc.)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(A) In Mask ROM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memory cell =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fixed connection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(wired transistor or diode).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Connection present = “1”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connection = “0”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566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802" y="1219200"/>
            <a:ext cx="10058400" cy="463824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Memory Cell?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67409" y="1724008"/>
            <a:ext cx="977575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B) In EPROM/EEPROM/Flash (non-volatile)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cell = a </a:t>
            </a: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floating-gate MOSFET transistor</a:t>
            </a:r>
            <a:endParaRPr kumimoji="0" lang="en-US" altLang="en-US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electrons are trapped in the floating gate → the transistor does not conduct → stores </a:t>
            </a: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gate has no electrons → transistor conducts → stores </a:t>
            </a: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Because electrons are insulated inside the floating gate, the bit is stored even if power is OFF.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967409" y="3641570"/>
            <a:ext cx="887544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(C) In RAM (volatile, for comparison)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SRAM cell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made of 6 transistors forming a flip-flop.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DRAM cell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made of 1 transistor + 1 capacitor (charge = “1”, no charge = “0”).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But DRAM loses charge when power is off → that’s why it’s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volatile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unlike ROM.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480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802" y="1219200"/>
            <a:ext cx="10058400" cy="463824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Memory Cell?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29802" y="2325494"/>
            <a:ext cx="688361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Memory Cell in ROM (Simple View)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Imagine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grid of rows and columns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Rows = word lines (selected by decoder)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Columns = bit lines (read the value)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each intersection → a memory cell (transistor or connection).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543" y="2402438"/>
            <a:ext cx="2886478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2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802" y="1219200"/>
            <a:ext cx="10058400" cy="463824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chart of ROM operation</a:t>
            </a: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690" y="1913584"/>
            <a:ext cx="4116580" cy="423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648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802" y="1219200"/>
            <a:ext cx="10058400" cy="463824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229801" y="1905074"/>
            <a:ext cx="673475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👉 Suppose you press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 button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 a computer: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CPU has no program yet, so it looks at ROM.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ROM gives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BIOS program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BIOS tells the CPU how to test RAM, load OS from hard disk.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Without ROM, the system cannot start.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👉 In a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washing machine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ROM stores the cycle steps (wash → rinse → spin).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select a mode, CPU reads from ROM and runs the sequence.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775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802" y="1219200"/>
            <a:ext cx="10058400" cy="463824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ROM in Simple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29802" y="1936260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Non-volatile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Data stays even when power is OFF.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to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 permanent programs/instructions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needed for a device to 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 can only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(normal use), but cannot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easily write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(depends on ROM type).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797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802" y="1219200"/>
            <a:ext cx="10058400" cy="463824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in ROM</a:t>
            </a:r>
          </a:p>
        </p:txBody>
      </p:sp>
      <p:sp>
        <p:nvSpPr>
          <p:cNvPr id="3" name="Rectangle 2"/>
          <p:cNvSpPr/>
          <p:nvPr/>
        </p:nvSpPr>
        <p:spPr>
          <a:xfrm>
            <a:off x="1229802" y="1926898"/>
            <a:ext cx="925266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Inside ROM, data is stored as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binary (0s and 1s)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means "no connection" (open circuit or low voltage).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means "connection" (closed circuit or high voltage).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0s and 1s are created using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logic gates and transistor arrangements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inside the silicon chip.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Mask ROM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manufacturer decides the 0s and 1s during chip making (permanent).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EPROM/EEPROM/Flash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special process (UV light or electrical charges) sets or clears the bits.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✅ Because ROM cells use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floating-gate MOSFETs (for EEPROM/Flash)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hard-wired connections (for Mask ROM)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the stored charges/paths remain even when power is OFF.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975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802" y="1219200"/>
            <a:ext cx="10058400" cy="463824"/>
          </a:xfrm>
        </p:spPr>
        <p:txBody>
          <a:bodyPr>
            <a:norm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in 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1229802" y="2058123"/>
            <a:ext cx="882859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ROM typically stores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firmware (software + hardware instructions)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Bootloader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(first code that runs when you power ON a system).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BIOS/UEFI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computers.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programs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(ex: Arduino sketch stored in Flash).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Lookup tables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(ex: fonts, math constants).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appliance instructions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(ex: washing machine wash cycle logic).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data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(encryption keys, SIM card details).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901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802" y="1219200"/>
            <a:ext cx="10058400" cy="463824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ROM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198560"/>
              </p:ext>
            </p:extLst>
          </p:nvPr>
        </p:nvGraphicFramePr>
        <p:xfrm>
          <a:off x="1229802" y="3006321"/>
          <a:ext cx="9117970" cy="1463040"/>
        </p:xfrm>
        <a:graphic>
          <a:graphicData uri="http://schemas.openxmlformats.org/drawingml/2006/table">
            <a:tbl>
              <a:tblPr/>
              <a:tblGrid>
                <a:gridCol w="4558985">
                  <a:extLst>
                    <a:ext uri="{9D8B030D-6E8A-4147-A177-3AD203B41FA5}">
                      <a16:colId xmlns:a16="http://schemas.microsoft.com/office/drawing/2014/main" val="508257680"/>
                    </a:ext>
                  </a:extLst>
                </a:gridCol>
                <a:gridCol w="4558985">
                  <a:extLst>
                    <a:ext uri="{9D8B030D-6E8A-4147-A177-3AD203B41FA5}">
                      <a16:colId xmlns:a16="http://schemas.microsoft.com/office/drawing/2014/main" val="3899052286"/>
                    </a:ext>
                  </a:extLst>
                </a:gridCol>
              </a:tblGrid>
              <a:tr h="261786">
                <a:tc>
                  <a:txBody>
                    <a:bodyPr/>
                    <a:lstStyle/>
                    <a:p>
                      <a:r>
                        <a:rPr lang="en-IN"/>
                        <a:t>Address (Input)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Stored Data (Output)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2334931"/>
                  </a:ext>
                </a:extLst>
              </a:tr>
              <a:tr h="253574">
                <a:tc>
                  <a:txBody>
                    <a:bodyPr/>
                    <a:lstStyle/>
                    <a:p>
                      <a:r>
                        <a:rPr lang="en-IN"/>
                        <a:t>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10101010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740756"/>
                  </a:ext>
                </a:extLst>
              </a:tr>
              <a:tr h="253574">
                <a:tc>
                  <a:txBody>
                    <a:bodyPr/>
                    <a:lstStyle/>
                    <a:p>
                      <a:r>
                        <a:rPr lang="en-IN"/>
                        <a:t>0001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11110000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8133720"/>
                  </a:ext>
                </a:extLst>
              </a:tr>
              <a:tr h="253574">
                <a:tc>
                  <a:txBody>
                    <a:bodyPr/>
                    <a:lstStyle/>
                    <a:p>
                      <a:r>
                        <a:rPr lang="en-IN"/>
                        <a:t>0010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01010101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7423892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29802" y="1741955"/>
            <a:ext cx="868282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ROM works like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big truth table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(address → stored data).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 give an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Address (input lines)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ROM returns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Stored Data (output lines)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So, ROM is basically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decoder + memory array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Decoder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selects the correct row (address).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Memory array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outputs the stored bits.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3646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802" y="1219200"/>
            <a:ext cx="10058400" cy="463824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ROM Keeps Data Without Power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229802" y="2181327"/>
            <a:ext cx="963381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floating-gate transistors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(EEPROM/Flash) → electrons trapped in an insulated gate = stores charge = binary “1” or “0”.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hardwired connections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(Mask ROM) → physical wiring means permanent 0/1.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Since no constant power is needed to “hold” the data, ROM is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non-volatile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69478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</TotalTime>
  <Words>1661</Words>
  <Application>Microsoft Office PowerPoint</Application>
  <PresentationFormat>Widescreen</PresentationFormat>
  <Paragraphs>196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Wingdings</vt:lpstr>
      <vt:lpstr>Retrospect</vt:lpstr>
      <vt:lpstr>Non – volatile memory (ROM)</vt:lpstr>
      <vt:lpstr>What is a Transistor?</vt:lpstr>
      <vt:lpstr>Types of Transistors</vt:lpstr>
      <vt:lpstr>Transistor Terminals</vt:lpstr>
      <vt:lpstr>Types of Transistors</vt:lpstr>
      <vt:lpstr>5. Why Transistors are Important</vt:lpstr>
      <vt:lpstr>MOSFET Symbol (used in ROM/CPU):</vt:lpstr>
      <vt:lpstr>Designing of ROM</vt:lpstr>
      <vt:lpstr>Designing of ROM</vt:lpstr>
      <vt:lpstr>Designing of ROM</vt:lpstr>
      <vt:lpstr>Circuit Sample:</vt:lpstr>
      <vt:lpstr>Block diagram of circuit insite (ROM) </vt:lpstr>
      <vt:lpstr>What is a Memory Cell?</vt:lpstr>
      <vt:lpstr>What is a Memory Cell?</vt:lpstr>
      <vt:lpstr>What is a Memory Cell?</vt:lpstr>
      <vt:lpstr>What is a Memory Cell?</vt:lpstr>
      <vt:lpstr>Flow chart of ROM operation</vt:lpstr>
      <vt:lpstr>Real-Life Example</vt:lpstr>
      <vt:lpstr>ROM in Simple Words</vt:lpstr>
      <vt:lpstr>How Data is Stored in ROM</vt:lpstr>
      <vt:lpstr>What Data is Stored in ROM</vt:lpstr>
      <vt:lpstr>Logic of ROM</vt:lpstr>
      <vt:lpstr>Why ROM Keeps Data Without Power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– volatile memory (ROM)</dc:title>
  <dc:creator>GANAPATHI SAKTHIVEL</dc:creator>
  <cp:lastModifiedBy>GANAPATHI SAKTHIVEL</cp:lastModifiedBy>
  <cp:revision>5</cp:revision>
  <dcterms:created xsi:type="dcterms:W3CDTF">2025-08-25T11:56:13Z</dcterms:created>
  <dcterms:modified xsi:type="dcterms:W3CDTF">2025-08-25T12:37:54Z</dcterms:modified>
</cp:coreProperties>
</file>