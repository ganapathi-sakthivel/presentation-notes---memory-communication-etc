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C3AF-B328-0889-44EC-4FB67F367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356852"/>
            <a:ext cx="8361229" cy="1544869"/>
          </a:xfrm>
        </p:spPr>
        <p:txBody>
          <a:bodyPr/>
          <a:lstStyle/>
          <a:p>
            <a:r>
              <a:rPr lang="en-US" sz="4000" dirty="0"/>
              <a:t>Difference between c and </a:t>
            </a:r>
            <a:r>
              <a:rPr lang="en-US" sz="4000" dirty="0" err="1"/>
              <a:t>c++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E1C94-56C8-BC34-4B6A-8E7715FE8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1" y="3956279"/>
            <a:ext cx="4473676" cy="1086237"/>
          </a:xfrm>
        </p:spPr>
        <p:txBody>
          <a:bodyPr/>
          <a:lstStyle/>
          <a:p>
            <a:r>
              <a:rPr lang="en-US" sz="2400" dirty="0"/>
              <a:t>Presented</a:t>
            </a:r>
            <a:r>
              <a:rPr lang="en-US" dirty="0"/>
              <a:t> by,</a:t>
            </a:r>
          </a:p>
          <a:p>
            <a:pPr lvl="2"/>
            <a:r>
              <a:rPr lang="en-US" sz="2000" dirty="0"/>
              <a:t>Sowndharya 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5794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CF99-5D29-8A99-A460-C0168334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280652"/>
          </a:xfrm>
        </p:spPr>
        <p:txBody>
          <a:bodyPr>
            <a:normAutofit/>
          </a:bodyPr>
          <a:lstStyle/>
          <a:p>
            <a:r>
              <a:rPr lang="en-US" sz="2400" dirty="0"/>
              <a:t>Differences between c and </a:t>
            </a:r>
            <a:r>
              <a:rPr lang="en-US" sz="2400" dirty="0" err="1"/>
              <a:t>c++</a:t>
            </a:r>
            <a:r>
              <a:rPr lang="en-US" sz="2400" dirty="0"/>
              <a:t>: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2EFB0-B815-7523-B663-C92FA0C28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238865"/>
            <a:ext cx="4443984" cy="550607"/>
          </a:xfrm>
        </p:spPr>
        <p:txBody>
          <a:bodyPr/>
          <a:lstStyle/>
          <a:p>
            <a:pPr algn="ctr"/>
            <a:r>
              <a:rPr lang="en-US" sz="2000" dirty="0"/>
              <a:t>C</a:t>
            </a:r>
            <a:endParaRPr lang="en-IN" sz="20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8BCC14E-C7D9-AE70-3D7F-833EE2CCAE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1882663"/>
              </p:ext>
            </p:extLst>
          </p:nvPr>
        </p:nvGraphicFramePr>
        <p:xfrm>
          <a:off x="1469923" y="1966452"/>
          <a:ext cx="4956029" cy="99783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0036">
                  <a:extLst>
                    <a:ext uri="{9D8B030D-6E8A-4147-A177-3AD203B41FA5}">
                      <a16:colId xmlns:a16="http://schemas.microsoft.com/office/drawing/2014/main" val="2437649194"/>
                    </a:ext>
                  </a:extLst>
                </a:gridCol>
                <a:gridCol w="4735957">
                  <a:extLst>
                    <a:ext uri="{9D8B030D-6E8A-4147-A177-3AD203B41FA5}">
                      <a16:colId xmlns:a16="http://schemas.microsoft.com/office/drawing/2014/main" val="315551260"/>
                    </a:ext>
                  </a:extLst>
                </a:gridCol>
                <a:gridCol w="110036">
                  <a:extLst>
                    <a:ext uri="{9D8B030D-6E8A-4147-A177-3AD203B41FA5}">
                      <a16:colId xmlns:a16="http://schemas.microsoft.com/office/drawing/2014/main" val="3835388921"/>
                    </a:ext>
                  </a:extLst>
                </a:gridCol>
              </a:tblGrid>
              <a:tr h="1063849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</a:txBody>
                  <a:tcPr marL="42318" marR="42318" marT="21159" marB="21159"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N" sz="2000" dirty="0"/>
                        <a:t>Procedural Programming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20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N" sz="2000" dirty="0"/>
                        <a:t>Functions and procedures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20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Functions are the building blocks of a C program.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dirty="0"/>
                        <a:t>but  in C, it is difficult.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dirty="0"/>
                        <a:t>while C   does not.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dirty="0"/>
                        <a:t>while C does not support function overloading.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dirty="0"/>
                        <a:t>Can’t use functions inside structure in c.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endParaRPr lang="en-IN" sz="2000" dirty="0"/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endParaRPr lang="en-IN" sz="2000" dirty="0"/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</a:txBody>
                  <a:tcPr marL="42318" marR="42318" marT="21159" marB="21159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US" sz="800" dirty="0"/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endParaRPr lang="en-IN" sz="2000" dirty="0"/>
                    </a:p>
                  </a:txBody>
                  <a:tcPr marL="42318" marR="42318" marT="21159" marB="21159" anchor="ctr"/>
                </a:tc>
                <a:extLst>
                  <a:ext uri="{0D108BD9-81ED-4DB2-BD59-A6C34878D82A}">
                    <a16:rowId xmlns:a16="http://schemas.microsoft.com/office/drawing/2014/main" val="271144000"/>
                  </a:ext>
                </a:extLst>
              </a:tr>
              <a:tr h="1861738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</a:txBody>
                  <a:tcPr marL="42318" marR="42318" marT="21159" marB="21159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</a:txBody>
                  <a:tcPr marL="42318" marR="42318" marT="21159" marB="21159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</a:txBody>
                  <a:tcPr marL="42318" marR="42318" marT="21159" marB="21159" anchor="ctr"/>
                </a:tc>
                <a:extLst>
                  <a:ext uri="{0D108BD9-81ED-4DB2-BD59-A6C34878D82A}">
                    <a16:rowId xmlns:a16="http://schemas.microsoft.com/office/drawing/2014/main" val="3788202655"/>
                  </a:ext>
                </a:extLst>
              </a:tr>
              <a:tr h="1063849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</a:txBody>
                  <a:tcPr marL="42318" marR="42318" marT="21159" marB="21159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</a:txBody>
                  <a:tcPr marL="42318" marR="42318" marT="21159" marB="21159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IN" sz="800" dirty="0"/>
                    </a:p>
                  </a:txBody>
                  <a:tcPr marL="42318" marR="42318" marT="21159" marB="21159" anchor="ctr"/>
                </a:tc>
                <a:extLst>
                  <a:ext uri="{0D108BD9-81ED-4DB2-BD59-A6C34878D82A}">
                    <a16:rowId xmlns:a16="http://schemas.microsoft.com/office/drawing/2014/main" val="2219627103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E4A05-7795-1AFC-59C8-549FC71DE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5014" y="1120877"/>
            <a:ext cx="4443984" cy="550607"/>
          </a:xfrm>
        </p:spPr>
        <p:txBody>
          <a:bodyPr/>
          <a:lstStyle/>
          <a:p>
            <a:pPr algn="ctr"/>
            <a:r>
              <a:rPr lang="en-US" sz="2000" dirty="0"/>
              <a:t>C++ </a:t>
            </a:r>
            <a:endParaRPr lang="en-IN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E6208-2A79-73DC-CEDB-107B9712F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5014" y="1966453"/>
            <a:ext cx="4443984" cy="3900948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8000" dirty="0"/>
              <a:t>Multi-paradigm: Procedural + OOP + Generic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/>
              <a:t>Objects, classes, templates.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chemeClr val="tx1"/>
                </a:solidFill>
              </a:rPr>
              <a:t>while objects are building blocks of a C++ program.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sz="8000" dirty="0"/>
              <a:t>In C++, Mapping between Data &amp; Function is possible through objects.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sz="8000" dirty="0"/>
              <a:t>C++ follows strict type 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sz="8000" dirty="0"/>
              <a:t>C++ supports function overloading  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sz="8000" dirty="0"/>
              <a:t> We can use functions inside structures in C++.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3377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8CEF5-5D55-419C-F138-DD2328F5F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50258" y="403123"/>
            <a:ext cx="4443984" cy="597555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namespace feature is not in c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 does not have reference variables.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 c ,Malloc ,</a:t>
            </a:r>
            <a:r>
              <a:rPr lang="en-US" dirty="0" err="1"/>
              <a:t>Calloc</a:t>
            </a:r>
            <a:r>
              <a:rPr lang="en-US" dirty="0"/>
              <a:t> ,</a:t>
            </a:r>
            <a:r>
              <a:rPr lang="en-US" dirty="0" err="1"/>
              <a:t>Realloc</a:t>
            </a:r>
            <a:r>
              <a:rPr lang="en-US" dirty="0"/>
              <a:t> are used for memory allocation ,free() are used for deallocation.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 does not support exception handling.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 does not support Templates.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 does not support smart pointers.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B455E-380D-CDE5-B3D7-5E924883B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5014" y="330855"/>
            <a:ext cx="4443984" cy="5536546"/>
          </a:xfrm>
        </p:spPr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 NAMESPACE feature in C++ 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 C++ allows the use of reference variables.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In C++, new and delete operators are used for Dynamic memory allocation and deallocation.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Inheritance is the most powerful feature in C++.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C++ supports Exception Handling  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C++ supports Templates.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 C++ supports smart pointers.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4669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AD34-FE69-A150-4FF3-0974EB62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55639"/>
            <a:ext cx="9601200" cy="580103"/>
          </a:xfrm>
        </p:spPr>
        <p:txBody>
          <a:bodyPr>
            <a:normAutofit fontScale="90000"/>
          </a:bodyPr>
          <a:lstStyle/>
          <a:p>
            <a:r>
              <a:rPr lang="en-IN" sz="2200" b="1" dirty="0"/>
              <a:t>Features Of C++ </a:t>
            </a:r>
            <a:br>
              <a:rPr lang="en-IN" sz="2200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89351-89B5-72A2-8B6B-3E356A0C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061884"/>
            <a:ext cx="9601200" cy="480551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600" dirty="0"/>
              <a:t>1)Encapsulation</a:t>
            </a:r>
          </a:p>
          <a:p>
            <a:pPr marL="0" indent="0">
              <a:buNone/>
            </a:pPr>
            <a:r>
              <a:rPr lang="en-IN" sz="2600" dirty="0"/>
              <a:t>2) Data Abstraction</a:t>
            </a:r>
          </a:p>
          <a:p>
            <a:pPr marL="0" indent="0">
              <a:buNone/>
            </a:pPr>
            <a:r>
              <a:rPr lang="en-IN" sz="2600" dirty="0"/>
              <a:t> 3) Polymorphism</a:t>
            </a:r>
          </a:p>
          <a:p>
            <a:pPr marL="0" indent="0">
              <a:buNone/>
            </a:pPr>
            <a:r>
              <a:rPr lang="en-IN" sz="2600" dirty="0"/>
              <a:t>4) Inheritance  </a:t>
            </a:r>
          </a:p>
          <a:p>
            <a:pPr marL="0" indent="0">
              <a:buNone/>
            </a:pPr>
            <a:r>
              <a:rPr lang="en-IN" sz="2900" dirty="0"/>
              <a:t> </a:t>
            </a:r>
            <a:r>
              <a:rPr lang="en-IN" dirty="0"/>
              <a:t>  </a:t>
            </a:r>
          </a:p>
          <a:p>
            <a:pPr marL="0" indent="0">
              <a:buNone/>
            </a:pPr>
            <a:r>
              <a:rPr lang="en-IN" sz="2600" b="1" dirty="0"/>
              <a:t>Encapsulation :</a:t>
            </a:r>
          </a:p>
          <a:p>
            <a:r>
              <a:rPr lang="en-US" sz="2600" dirty="0"/>
              <a:t>Encapsulation is a mechanism that binds together code and data into a single unit called class, and that keeps both safe from outside interference and misuse.                </a:t>
            </a:r>
            <a:r>
              <a:rPr lang="en-US" sz="2600" b="1" dirty="0"/>
              <a:t>Or</a:t>
            </a:r>
            <a:endParaRPr lang="en-US" sz="2600" dirty="0"/>
          </a:p>
          <a:p>
            <a:r>
              <a:rPr lang="en-US" sz="2600" dirty="0"/>
              <a:t> Wrapping up of data and function into a single unit is called as encapsulation.</a:t>
            </a:r>
          </a:p>
          <a:p>
            <a:pPr marL="0" indent="0">
              <a:buNone/>
            </a:pPr>
            <a:endParaRPr lang="en-IN" sz="2600" b="1" dirty="0"/>
          </a:p>
          <a:p>
            <a:pPr marL="0" indent="0">
              <a:buNone/>
            </a:pPr>
            <a:br>
              <a:rPr lang="en-US" b="1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9398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EEE15D-A439-5C13-8973-881C8EEAB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5900"/>
            <a:ext cx="9601200" cy="5651500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IN" b="1" dirty="0"/>
              <a:t>Data Abstraction:</a:t>
            </a:r>
            <a:endParaRPr lang="en-US" b="1" dirty="0"/>
          </a:p>
          <a:p>
            <a:r>
              <a:rPr lang="en-US" dirty="0"/>
              <a:t>It refers to the act of representing essential features and hiding the background details.</a:t>
            </a:r>
          </a:p>
          <a:p>
            <a:pPr marL="0" indent="0">
              <a:buNone/>
            </a:pPr>
            <a:r>
              <a:rPr lang="en-IN" b="1" dirty="0"/>
              <a:t>Polymorphism:</a:t>
            </a:r>
          </a:p>
          <a:p>
            <a:r>
              <a:rPr lang="en-IN" dirty="0"/>
              <a:t>A </a:t>
            </a:r>
            <a:r>
              <a:rPr lang="en-IN" dirty="0" err="1"/>
              <a:t>sigle</a:t>
            </a:r>
            <a:r>
              <a:rPr lang="en-IN" dirty="0"/>
              <a:t> entity can exist in more than one form. </a:t>
            </a:r>
          </a:p>
          <a:p>
            <a:r>
              <a:rPr lang="en-IN" dirty="0"/>
              <a:t>   In C++, Polymorphism is divided as 2 types.</a:t>
            </a:r>
          </a:p>
          <a:p>
            <a:pPr marL="530352" lvl="1" indent="0">
              <a:buNone/>
            </a:pPr>
            <a:r>
              <a:rPr lang="en-IN" dirty="0" err="1"/>
              <a:t>i</a:t>
            </a:r>
            <a:r>
              <a:rPr lang="en-IN" dirty="0"/>
              <a:t>) </a:t>
            </a:r>
            <a:r>
              <a:rPr lang="en-IN" dirty="0" err="1"/>
              <a:t>Compiletime</a:t>
            </a:r>
            <a:r>
              <a:rPr lang="en-IN" dirty="0"/>
              <a:t> Polymorphism</a:t>
            </a:r>
          </a:p>
          <a:p>
            <a:pPr marL="530352" lvl="1" indent="0">
              <a:buNone/>
            </a:pPr>
            <a:r>
              <a:rPr lang="en-IN" dirty="0"/>
              <a:t>    a) Function Overloading</a:t>
            </a:r>
          </a:p>
          <a:p>
            <a:pPr marL="530352" lvl="1" indent="0">
              <a:buNone/>
            </a:pPr>
            <a:r>
              <a:rPr lang="en-IN" dirty="0"/>
              <a:t>    b) Operator Overloading</a:t>
            </a:r>
          </a:p>
          <a:p>
            <a:pPr marL="530352" lvl="1" indent="0">
              <a:buNone/>
            </a:pPr>
            <a:r>
              <a:rPr lang="en-IN" dirty="0"/>
              <a:t>ii) Runtime Polymorphism</a:t>
            </a:r>
          </a:p>
          <a:p>
            <a:pPr marL="530352" lvl="1" indent="0">
              <a:buNone/>
            </a:pPr>
            <a:r>
              <a:rPr lang="en-IN" dirty="0"/>
              <a:t>      </a:t>
            </a:r>
            <a:r>
              <a:rPr lang="en-IN" dirty="0" err="1"/>
              <a:t>Virutal</a:t>
            </a:r>
            <a:r>
              <a:rPr lang="en-IN" dirty="0"/>
              <a:t> functions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br>
              <a:rPr lang="en-IN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8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C6D41-4BA7-146B-6BBC-31D7D54CA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65471"/>
            <a:ext cx="9601200" cy="560192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Inheritance:</a:t>
            </a:r>
            <a:endParaRPr lang="en-US" dirty="0"/>
          </a:p>
          <a:p>
            <a:r>
              <a:rPr lang="en-US" dirty="0"/>
              <a:t> Inheritance is a process of acquiring the properties of one class into another class. (properties from parent to </a:t>
            </a:r>
            <a:r>
              <a:rPr lang="en-US"/>
              <a:t>child)</a:t>
            </a:r>
            <a:endParaRPr lang="en-US" dirty="0"/>
          </a:p>
          <a:p>
            <a:r>
              <a:rPr lang="en-US"/>
              <a:t> </a:t>
            </a:r>
            <a:r>
              <a:rPr lang="en-US" dirty="0"/>
              <a:t>Here new classes can be built from the old once. The  original class is known as the base class and new class is referred to as derived class.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36588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{890D897C-4220-4DB8-AD74-7325D25B28A9}tf10001105</Template>
  <TotalTime>94</TotalTime>
  <Words>431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Franklin Gothic Book</vt:lpstr>
      <vt:lpstr>Wingdings</vt:lpstr>
      <vt:lpstr>Crop</vt:lpstr>
      <vt:lpstr>Difference between c and c++</vt:lpstr>
      <vt:lpstr>Differences between c and c++:</vt:lpstr>
      <vt:lpstr>PowerPoint Presentation</vt:lpstr>
      <vt:lpstr>Features Of C++ 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 balan</dc:creator>
  <cp:lastModifiedBy>boo balan</cp:lastModifiedBy>
  <cp:revision>2</cp:revision>
  <dcterms:created xsi:type="dcterms:W3CDTF">2025-08-29T13:39:35Z</dcterms:created>
  <dcterms:modified xsi:type="dcterms:W3CDTF">2025-08-29T15:14:08Z</dcterms:modified>
</cp:coreProperties>
</file>